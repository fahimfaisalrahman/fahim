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343434"/>
    <a:srgbClr val="434343"/>
    <a:srgbClr val="5F5F5F"/>
    <a:srgbClr val="DEDEDE"/>
    <a:srgbClr val="091C2B"/>
    <a:srgbClr val="0FA9F5"/>
    <a:srgbClr val="ACACAC"/>
    <a:srgbClr val="091A2C"/>
    <a:srgbClr val="3AB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McKinsey%20Visuals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McKinsey%20Visual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enovo\Downloads\McKinsey%20Visual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'2'!$G$2</c:f>
              <c:strCache>
                <c:ptCount val="1"/>
                <c:pt idx="0">
                  <c:v>Merger or 
Acquisition</c:v>
                </c:pt>
              </c:strCache>
            </c:strRef>
          </c:tx>
          <c:spPr>
            <a:solidFill>
              <a:srgbClr val="0FA9F5"/>
            </a:solidFill>
            <a:ln>
              <a:noFill/>
            </a:ln>
            <a:effectLst/>
          </c:spPr>
          <c:invertIfNegative val="0"/>
          <c:cat>
            <c:multiLvlStrRef>
              <c:f>'2'!$D$3:$E$23</c:f>
              <c:multiLvlStrCache>
                <c:ptCount val="21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Q1</c:v>
                  </c:pt>
                  <c:pt idx="13">
                    <c:v>Q2</c:v>
                  </c:pt>
                  <c:pt idx="14">
                    <c:v>Q3</c:v>
                  </c:pt>
                  <c:pt idx="15">
                    <c:v>Q4</c:v>
                  </c:pt>
                  <c:pt idx="16">
                    <c:v>Q1</c:v>
                  </c:pt>
                  <c:pt idx="17">
                    <c:v>Q2</c:v>
                  </c:pt>
                  <c:pt idx="18">
                    <c:v>Q3</c:v>
                  </c:pt>
                  <c:pt idx="19">
                    <c:v>Q4</c:v>
                  </c:pt>
                  <c:pt idx="20">
                    <c:v>Q1</c:v>
                  </c:pt>
                </c:lvl>
                <c:lvl>
                  <c:pt idx="0">
                    <c:v>2018</c:v>
                  </c:pt>
                  <c:pt idx="4">
                    <c:v>2019</c:v>
                  </c:pt>
                  <c:pt idx="8">
                    <c:v>2020</c:v>
                  </c:pt>
                  <c:pt idx="12">
                    <c:v>2021</c:v>
                  </c:pt>
                  <c:pt idx="16">
                    <c:v>2022</c:v>
                  </c:pt>
                  <c:pt idx="20">
                    <c:v>2023</c:v>
                  </c:pt>
                </c:lvl>
              </c:multiLvlStrCache>
            </c:multiLvlStrRef>
          </c:cat>
          <c:val>
            <c:numRef>
              <c:f>'2'!$G$3:$G$23</c:f>
              <c:numCache>
                <c:formatCode>General</c:formatCode>
                <c:ptCount val="21"/>
                <c:pt idx="0">
                  <c:v>36</c:v>
                </c:pt>
                <c:pt idx="1">
                  <c:v>29</c:v>
                </c:pt>
                <c:pt idx="2">
                  <c:v>46</c:v>
                </c:pt>
                <c:pt idx="3">
                  <c:v>40</c:v>
                </c:pt>
                <c:pt idx="4">
                  <c:v>30</c:v>
                </c:pt>
                <c:pt idx="5">
                  <c:v>41</c:v>
                </c:pt>
                <c:pt idx="6">
                  <c:v>31</c:v>
                </c:pt>
                <c:pt idx="7">
                  <c:v>37</c:v>
                </c:pt>
                <c:pt idx="8">
                  <c:v>35</c:v>
                </c:pt>
                <c:pt idx="9">
                  <c:v>13</c:v>
                </c:pt>
                <c:pt idx="10">
                  <c:v>27</c:v>
                </c:pt>
                <c:pt idx="11">
                  <c:v>40</c:v>
                </c:pt>
                <c:pt idx="12">
                  <c:v>34</c:v>
                </c:pt>
                <c:pt idx="13">
                  <c:v>42</c:v>
                </c:pt>
                <c:pt idx="14">
                  <c:v>55</c:v>
                </c:pt>
                <c:pt idx="15">
                  <c:v>43</c:v>
                </c:pt>
                <c:pt idx="16">
                  <c:v>27</c:v>
                </c:pt>
                <c:pt idx="17">
                  <c:v>49</c:v>
                </c:pt>
                <c:pt idx="18">
                  <c:v>58</c:v>
                </c:pt>
                <c:pt idx="19">
                  <c:v>57</c:v>
                </c:pt>
                <c:pt idx="20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CA-46E4-B005-DDA95C34A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548300959"/>
        <c:axId val="548298559"/>
      </c:barChart>
      <c:barChart>
        <c:barDir val="col"/>
        <c:grouping val="clustered"/>
        <c:varyColors val="0"/>
        <c:ser>
          <c:idx val="0"/>
          <c:order val="0"/>
          <c:tx>
            <c:strRef>
              <c:f>'2'!$F$2</c:f>
              <c:strCache>
                <c:ptCount val="1"/>
                <c:pt idx="0">
                  <c:v>Divestiture</c:v>
                </c:pt>
              </c:strCache>
            </c:strRef>
          </c:tx>
          <c:spPr>
            <a:solidFill>
              <a:srgbClr val="091C2B"/>
            </a:solidFill>
            <a:ln>
              <a:noFill/>
            </a:ln>
            <a:effectLst/>
          </c:spPr>
          <c:invertIfNegative val="0"/>
          <c:cat>
            <c:multiLvlStrRef>
              <c:f>'2'!$D$3:$E$23</c:f>
              <c:multiLvlStrCache>
                <c:ptCount val="21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  <c:pt idx="12">
                    <c:v>Q1</c:v>
                  </c:pt>
                  <c:pt idx="13">
                    <c:v>Q2</c:v>
                  </c:pt>
                  <c:pt idx="14">
                    <c:v>Q3</c:v>
                  </c:pt>
                  <c:pt idx="15">
                    <c:v>Q4</c:v>
                  </c:pt>
                  <c:pt idx="16">
                    <c:v>Q1</c:v>
                  </c:pt>
                  <c:pt idx="17">
                    <c:v>Q2</c:v>
                  </c:pt>
                  <c:pt idx="18">
                    <c:v>Q3</c:v>
                  </c:pt>
                  <c:pt idx="19">
                    <c:v>Q4</c:v>
                  </c:pt>
                  <c:pt idx="20">
                    <c:v>Q1</c:v>
                  </c:pt>
                </c:lvl>
                <c:lvl>
                  <c:pt idx="0">
                    <c:v>2018</c:v>
                  </c:pt>
                  <c:pt idx="4">
                    <c:v>2019</c:v>
                  </c:pt>
                  <c:pt idx="8">
                    <c:v>2020</c:v>
                  </c:pt>
                  <c:pt idx="12">
                    <c:v>2021</c:v>
                  </c:pt>
                  <c:pt idx="16">
                    <c:v>2022</c:v>
                  </c:pt>
                  <c:pt idx="20">
                    <c:v>2023</c:v>
                  </c:pt>
                </c:lvl>
              </c:multiLvlStrCache>
            </c:multiLvlStrRef>
          </c:cat>
          <c:val>
            <c:numRef>
              <c:f>'2'!$F$3:$F$23</c:f>
              <c:numCache>
                <c:formatCode>General</c:formatCode>
                <c:ptCount val="21"/>
                <c:pt idx="0">
                  <c:v>13</c:v>
                </c:pt>
                <c:pt idx="1">
                  <c:v>16</c:v>
                </c:pt>
                <c:pt idx="2">
                  <c:v>15</c:v>
                </c:pt>
                <c:pt idx="3">
                  <c:v>18</c:v>
                </c:pt>
                <c:pt idx="4">
                  <c:v>11</c:v>
                </c:pt>
                <c:pt idx="5">
                  <c:v>6</c:v>
                </c:pt>
                <c:pt idx="6">
                  <c:v>14</c:v>
                </c:pt>
                <c:pt idx="7">
                  <c:v>23</c:v>
                </c:pt>
                <c:pt idx="8">
                  <c:v>9</c:v>
                </c:pt>
                <c:pt idx="9">
                  <c:v>2</c:v>
                </c:pt>
                <c:pt idx="10">
                  <c:v>26</c:v>
                </c:pt>
                <c:pt idx="11">
                  <c:v>16</c:v>
                </c:pt>
                <c:pt idx="12">
                  <c:v>12</c:v>
                </c:pt>
                <c:pt idx="13">
                  <c:v>15</c:v>
                </c:pt>
                <c:pt idx="14">
                  <c:v>21</c:v>
                </c:pt>
                <c:pt idx="15">
                  <c:v>10</c:v>
                </c:pt>
                <c:pt idx="16">
                  <c:v>11</c:v>
                </c:pt>
                <c:pt idx="17">
                  <c:v>18</c:v>
                </c:pt>
                <c:pt idx="18">
                  <c:v>8</c:v>
                </c:pt>
                <c:pt idx="19">
                  <c:v>16</c:v>
                </c:pt>
                <c:pt idx="2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CA-46E4-B005-DDA95C34A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6004607"/>
        <c:axId val="736002687"/>
      </c:barChart>
      <c:catAx>
        <c:axId val="548300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8298559"/>
        <c:crosses val="autoZero"/>
        <c:auto val="1"/>
        <c:lblAlgn val="ctr"/>
        <c:lblOffset val="100"/>
        <c:noMultiLvlLbl val="0"/>
      </c:catAx>
      <c:valAx>
        <c:axId val="548298559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8300959"/>
        <c:crosses val="autoZero"/>
        <c:crossBetween val="between"/>
      </c:valAx>
      <c:valAx>
        <c:axId val="736002687"/>
        <c:scaling>
          <c:orientation val="minMax"/>
          <c:max val="60"/>
        </c:scaling>
        <c:delete val="1"/>
        <c:axPos val="r"/>
        <c:numFmt formatCode="General" sourceLinked="1"/>
        <c:majorTickMark val="out"/>
        <c:minorTickMark val="none"/>
        <c:tickLblPos val="nextTo"/>
        <c:crossAx val="736004607"/>
        <c:crosses val="max"/>
        <c:crossBetween val="between"/>
      </c:valAx>
      <c:catAx>
        <c:axId val="736004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360026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8289371433689239"/>
          <c:y val="3.2824008779702388E-2"/>
          <c:w val="0.26720109628973571"/>
          <c:h val="8.20484978914466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'3'!$D$3</c:f>
              <c:strCache>
                <c:ptCount val="1"/>
                <c:pt idx="0">
                  <c:v>White Men</c:v>
                </c:pt>
              </c:strCache>
            </c:strRef>
          </c:tx>
          <c:spPr>
            <a:solidFill>
              <a:srgbClr val="091A2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'3'!$E$2:$J$2</c:f>
              <c:strCache>
                <c:ptCount val="6"/>
                <c:pt idx="0">
                  <c:v>Entry 
level</c:v>
                </c:pt>
                <c:pt idx="1">
                  <c:v>Manager</c:v>
                </c:pt>
                <c:pt idx="2">
                  <c:v>Senior manager
/director</c:v>
                </c:pt>
                <c:pt idx="3">
                  <c:v>Vice 
president</c:v>
                </c:pt>
                <c:pt idx="4">
                  <c:v>Senior 
vice president</c:v>
                </c:pt>
                <c:pt idx="5">
                  <c:v>C-suite</c:v>
                </c:pt>
              </c:strCache>
            </c:strRef>
          </c:cat>
          <c:val>
            <c:numRef>
              <c:f>'3'!$E$3:$J$3</c:f>
              <c:numCache>
                <c:formatCode>General</c:formatCode>
                <c:ptCount val="6"/>
                <c:pt idx="0">
                  <c:v>35</c:v>
                </c:pt>
                <c:pt idx="1">
                  <c:v>42</c:v>
                </c:pt>
                <c:pt idx="2" formatCode="0">
                  <c:v>50</c:v>
                </c:pt>
                <c:pt idx="3" formatCode="0">
                  <c:v>56</c:v>
                </c:pt>
                <c:pt idx="4" formatCode="0">
                  <c:v>61</c:v>
                </c:pt>
                <c:pt idx="5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2-4548-A326-DAD60846DE22}"/>
            </c:ext>
          </c:extLst>
        </c:ser>
        <c:ser>
          <c:idx val="1"/>
          <c:order val="1"/>
          <c:tx>
            <c:strRef>
              <c:f>'3'!$D$4</c:f>
              <c:strCache>
                <c:ptCount val="1"/>
                <c:pt idx="0">
                  <c:v>Women of color</c:v>
                </c:pt>
              </c:strCache>
            </c:strRef>
          </c:tx>
          <c:spPr>
            <a:solidFill>
              <a:srgbClr val="3ABDF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'3'!$E$2:$J$2</c:f>
              <c:strCache>
                <c:ptCount val="6"/>
                <c:pt idx="0">
                  <c:v>Entry 
level</c:v>
                </c:pt>
                <c:pt idx="1">
                  <c:v>Manager</c:v>
                </c:pt>
                <c:pt idx="2">
                  <c:v>Senior manager
/director</c:v>
                </c:pt>
                <c:pt idx="3">
                  <c:v>Vice 
president</c:v>
                </c:pt>
                <c:pt idx="4">
                  <c:v>Senior 
vice president</c:v>
                </c:pt>
                <c:pt idx="5">
                  <c:v>C-suite</c:v>
                </c:pt>
              </c:strCache>
            </c:strRef>
          </c:cat>
          <c:val>
            <c:numRef>
              <c:f>'3'!$E$4:$J$4</c:f>
              <c:numCache>
                <c:formatCode>General</c:formatCode>
                <c:ptCount val="6"/>
                <c:pt idx="0">
                  <c:v>17</c:v>
                </c:pt>
                <c:pt idx="1">
                  <c:v>17</c:v>
                </c:pt>
                <c:pt idx="2" formatCode="0">
                  <c:v>15</c:v>
                </c:pt>
                <c:pt idx="3" formatCode="0">
                  <c:v>13</c:v>
                </c:pt>
                <c:pt idx="4" formatCode="0">
                  <c:v>12</c:v>
                </c:pt>
                <c:pt idx="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02-4548-A326-DAD60846DE22}"/>
            </c:ext>
          </c:extLst>
        </c:ser>
        <c:ser>
          <c:idx val="2"/>
          <c:order val="2"/>
          <c:tx>
            <c:strRef>
              <c:f>'3'!$D$5</c:f>
              <c:strCache>
                <c:ptCount val="1"/>
                <c:pt idx="0">
                  <c:v>Men of color</c:v>
                </c:pt>
              </c:strCache>
            </c:strRef>
          </c:tx>
          <c:spPr>
            <a:solidFill>
              <a:srgbClr val="82D6F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'3'!$E$2:$J$2</c:f>
              <c:strCache>
                <c:ptCount val="6"/>
                <c:pt idx="0">
                  <c:v>Entry 
level</c:v>
                </c:pt>
                <c:pt idx="1">
                  <c:v>Manager</c:v>
                </c:pt>
                <c:pt idx="2">
                  <c:v>Senior manager
/director</c:v>
                </c:pt>
                <c:pt idx="3">
                  <c:v>Vice 
president</c:v>
                </c:pt>
                <c:pt idx="4">
                  <c:v>Senior 
vice president</c:v>
                </c:pt>
                <c:pt idx="5">
                  <c:v>C-suite</c:v>
                </c:pt>
              </c:strCache>
            </c:strRef>
          </c:cat>
          <c:val>
            <c:numRef>
              <c:f>'3'!$E$5:$J$5</c:f>
              <c:numCache>
                <c:formatCode>General</c:formatCode>
                <c:ptCount val="6"/>
                <c:pt idx="0">
                  <c:v>17</c:v>
                </c:pt>
                <c:pt idx="1">
                  <c:v>12</c:v>
                </c:pt>
                <c:pt idx="2" formatCode="0">
                  <c:v>9</c:v>
                </c:pt>
                <c:pt idx="3" formatCode="0">
                  <c:v>7</c:v>
                </c:pt>
                <c:pt idx="4" formatCode="0">
                  <c:v>5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02-4548-A326-DAD60846DE22}"/>
            </c:ext>
          </c:extLst>
        </c:ser>
        <c:ser>
          <c:idx val="3"/>
          <c:order val="3"/>
          <c:tx>
            <c:strRef>
              <c:f>'3'!$D$6</c:f>
              <c:strCache>
                <c:ptCount val="1"/>
                <c:pt idx="0">
                  <c:v>White Women</c:v>
                </c:pt>
              </c:strCache>
            </c:strRef>
          </c:tx>
          <c:spPr>
            <a:solidFill>
              <a:srgbClr val="43556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'3'!$E$2:$J$2</c:f>
              <c:strCache>
                <c:ptCount val="6"/>
                <c:pt idx="0">
                  <c:v>Entry 
level</c:v>
                </c:pt>
                <c:pt idx="1">
                  <c:v>Manager</c:v>
                </c:pt>
                <c:pt idx="2">
                  <c:v>Senior manager
/director</c:v>
                </c:pt>
                <c:pt idx="3">
                  <c:v>Vice 
president</c:v>
                </c:pt>
                <c:pt idx="4">
                  <c:v>Senior 
vice president</c:v>
                </c:pt>
                <c:pt idx="5">
                  <c:v>C-suite</c:v>
                </c:pt>
              </c:strCache>
            </c:strRef>
          </c:cat>
          <c:val>
            <c:numRef>
              <c:f>'3'!$E$6:$J$6</c:f>
              <c:numCache>
                <c:formatCode>General</c:formatCode>
                <c:ptCount val="6"/>
                <c:pt idx="0">
                  <c:v>30</c:v>
                </c:pt>
                <c:pt idx="1">
                  <c:v>28</c:v>
                </c:pt>
                <c:pt idx="2" formatCode="0">
                  <c:v>27</c:v>
                </c:pt>
                <c:pt idx="3" formatCode="0">
                  <c:v>24</c:v>
                </c:pt>
                <c:pt idx="4" formatCode="0">
                  <c:v>22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02-4548-A326-DAD60846D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604500559"/>
        <c:axId val="604501039"/>
      </c:barChart>
      <c:catAx>
        <c:axId val="60450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501039"/>
        <c:crosses val="autoZero"/>
        <c:auto val="1"/>
        <c:lblAlgn val="ctr"/>
        <c:lblOffset val="100"/>
        <c:noMultiLvlLbl val="0"/>
      </c:catAx>
      <c:valAx>
        <c:axId val="60450103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60450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'1'!$D$3:$D$9</cx:f>
        <cx:lvl ptCount="7">
          <cx:pt idx="0">Advanced industries</cx:pt>
          <cx:pt idx="1">Global energy and materials</cx:pt>
          <cx:pt idx="2">Travel, logistics, and infrastructure</cx:pt>
          <cx:pt idx="3">Life sciences</cx:pt>
          <cx:pt idx="4">Consumer</cx:pt>
          <cx:pt idx="5">Telecommunications, media, and technology</cx:pt>
          <cx:pt idx="6">Financial Services</cx:pt>
        </cx:lvl>
      </cx:strDim>
      <cx:numDim type="val">
        <cx:f>'1'!$E$3:$E$9</cx:f>
        <cx:lvl ptCount="7" formatCode="General">
          <cx:pt idx="0">9</cx:pt>
          <cx:pt idx="1">15</cx:pt>
          <cx:pt idx="2">22</cx:pt>
          <cx:pt idx="3">28</cx:pt>
          <cx:pt idx="4">39</cx:pt>
          <cx:pt idx="5">60</cx:pt>
          <cx:pt idx="6">71</cx:pt>
        </cx:lvl>
      </cx:numDim>
    </cx:data>
  </cx:chartData>
  <cx:chart>
    <cx:plotArea>
      <cx:plotAreaRegion>
        <cx:plotSurface>
          <cx:spPr>
            <a:noFill/>
            <a:ln>
              <a:noFill/>
            </a:ln>
          </cx:spPr>
        </cx:plotSurface>
        <cx:series layoutId="funnel" uniqueId="{DE68F4C6-765C-4DA9-B0B6-0E5FA07D28E3}">
          <cx:tx>
            <cx:txData>
              <cx:f>'1'!$E$2</cx:f>
              <cx:v>Transformation</cx:v>
            </cx:txData>
          </cx:tx>
          <cx:dataPt idx="0">
            <cx:spPr>
              <a:solidFill>
                <a:srgbClr val="062079"/>
              </a:solidFill>
            </cx:spPr>
          </cx:dataPt>
          <cx:dataPt idx="1">
            <cx:spPr>
              <a:solidFill>
                <a:srgbClr val="062079"/>
              </a:solidFill>
            </cx:spPr>
          </cx:dataPt>
          <cx:dataPt idx="2">
            <cx:spPr>
              <a:solidFill>
                <a:srgbClr val="062079"/>
              </a:solidFill>
            </cx:spPr>
          </cx:dataPt>
          <cx:dataPt idx="3">
            <cx:spPr>
              <a:solidFill>
                <a:srgbClr val="062079"/>
              </a:solidFill>
            </cx:spPr>
          </cx:dataPt>
          <cx:dataPt idx="4">
            <cx:spPr>
              <a:solidFill>
                <a:srgbClr val="062079"/>
              </a:solidFill>
            </cx:spPr>
          </cx:dataPt>
          <cx:dataPt idx="5">
            <cx:spPr>
              <a:solidFill>
                <a:srgbClr val="3BBDF3"/>
              </a:solidFill>
            </cx:spPr>
          </cx:dataPt>
          <cx:dataPt idx="6">
            <cx:spPr>
              <a:solidFill>
                <a:srgbClr val="3BBDF3"/>
              </a:solidFill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200" b="1">
                    <a:solidFill>
                      <a:schemeClr val="bg1"/>
                    </a:solidFill>
                  </a:defRPr>
                </a:pPr>
                <a:endParaRPr lang="en-US" sz="1200" b="1" i="0" u="none" strike="noStrike" baseline="0">
                  <a:solidFill>
                    <a:schemeClr val="bg1"/>
                  </a:solidFill>
                  <a:latin typeface="Calibri" panose="020F0502020204030204"/>
                </a:endParaRPr>
              </a:p>
            </cx:txPr>
          </cx:dataLabels>
          <cx:dataId val="0"/>
        </cx:series>
      </cx:plotAreaRegion>
      <cx:axis id="0">
        <cx:catScaling gapWidth="0.400000006"/>
        <cx:majorTickMarks type="in"/>
        <cx:minorTickMarks type="out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ln>
                  <a:noFill/>
                </a:ln>
                <a:solidFill>
                  <a:srgbClr val="44546A"/>
                </a:solidFill>
              </a:defRPr>
            </a:pPr>
            <a:endParaRPr lang="en-US" sz="900" b="0" i="0" u="none" strike="noStrike" baseline="0">
              <a:ln>
                <a:noFill/>
              </a:ln>
              <a:solidFill>
                <a:srgbClr val="44546A"/>
              </a:solidFill>
              <a:latin typeface="Calibri" panose="020F0502020204030204"/>
            </a:endParaRPr>
          </a:p>
        </cx:txPr>
      </cx:axis>
    </cx:plotArea>
  </cx:chart>
  <cx:spPr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26">
  <cs:axisTitle>
    <cs:lnRef idx="0"/>
    <cs:fillRef idx="0"/>
    <cs:effectRef idx="0"/>
    <cs:fontRef idx="minor">
      <a:schemeClr val="tx2"/>
    </cs:fontRef>
    <cs:defRPr sz="9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2"/>
    </cs:fontRef>
    <cs:defRPr sz="9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2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2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2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2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2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2"/>
    </cs:fontRef>
    <cs:defRPr sz="9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2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2"/>
    </cs:fontRef>
    <cs:defRPr sz="1600" b="1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0.61391</cdr:x>
      <cdr:y>0.07327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4721BED7-94BC-9B6D-14BD-39E48FC9AB9D}"/>
            </a:ext>
          </a:extLst>
        </cdr:cNvPr>
        <cdr:cNvSpPr txBox="1"/>
      </cdr:nvSpPr>
      <cdr:spPr>
        <a:xfrm xmlns:a="http://schemas.openxmlformats.org/drawingml/2006/main">
          <a:off x="-747743" y="-1228544"/>
          <a:ext cx="6578510" cy="334075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/>
            <a:t>Quarterly machinery</a:t>
          </a:r>
          <a:r>
            <a:rPr lang="en-US" sz="1100" b="1" baseline="0" dirty="0"/>
            <a:t> sector M&amp;A activity, </a:t>
          </a:r>
          <a:r>
            <a:rPr lang="en-US" sz="1100" baseline="0" dirty="0"/>
            <a:t>number of deals</a:t>
          </a:r>
          <a:endParaRPr lang="en-US" sz="11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EEDF-16EE-693A-9B9C-9C3E3D08D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84A34-0918-6941-5BB4-7466D500C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EBDFD-78B3-1D80-DFD9-9353B0DD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B0329-82FD-BACF-8194-4FB341FB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2F6EC-88DD-B9EE-691B-50A8F889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59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229B-8E8A-54B1-5980-A5C00D91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41176-92AA-1674-9F67-5A60CC994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02C07-09DA-3324-12AD-80368913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B3575-9F5B-B218-EFB8-243F58AD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726E7-EBD3-1A34-CF86-78279463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2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FD16-FC99-0DF4-7F56-1727B7BD6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BF0B8-3270-8566-1F97-BCC94CFE0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8B32-EAF1-87E8-702D-EFFCA946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FB3DC-2BD9-CB9F-5CE9-91B028EB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7CDEA-ECC7-A81A-79A8-3883C141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4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19B7-EF3A-E223-738A-0D674DBC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F50E8-003A-2748-D694-F0C94EA73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ED936-2758-B4C0-F3AF-6D3E12928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6526-7305-1B69-0C29-DED78E9F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27F72-4FB1-DCB8-31B7-BCCA2F8A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35BAD-26C2-7EAD-F2C6-420F072B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5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347D-669E-DA44-F690-1586619D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035DA-B3AD-3402-6131-93040F00F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37011-7D70-B2C7-4951-84767BB6E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BD08B-E598-C226-5D92-1385DE5D8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3EF14-5040-710E-06C2-38B334DB8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015BB-688C-32E7-6279-684ACA85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04FA17-2829-FDC7-915A-426F3AB5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9CD972-463B-CAF7-3457-3759A10D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3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053C-9C47-9DCE-E2F5-1BECAF13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DE8ED-9AA6-C219-E6DD-4E8EC66E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AF72E-9B8F-0097-AEEC-773DD406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73B6D-7EF4-16D5-496B-951BEB38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7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F35B9-DE90-4A6F-3AA2-8B1D6EDB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B4CBF-F5AF-09A8-4986-3D909CFA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20225-28E8-1C52-25DB-C194284A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6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F487-4240-8BBC-2A66-81D0F93F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73270-0205-CB8D-CD54-B38E4B4A7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9DBEE-77A2-5D66-9ED2-8FB916AEB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06317-A046-9A1A-3619-11A675C4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0607A-725A-82DF-FBFE-B5ED2046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7D3BA-BD74-7B0F-5E7E-17686609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4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1E70-7015-1E10-3358-1AE6CC1D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37B2E-304F-B9B5-B529-5B3616F93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BE53F-5F3C-8585-F170-747866754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26538-A780-D303-9201-DBB22268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D7AE8-9DAD-BCE9-08FD-29CA4315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81F68-1F48-C9FD-451A-00316C9D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6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DF6A-53F5-0452-CD86-2ACC0C539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35FB3-6D41-98C2-1E28-AB23127CF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AED6-6E1F-9202-7F91-BB3B6E82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D99EE-32AF-4915-1E74-466E5112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5A473-AC16-11EE-40C3-8E04DD05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3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4F60A-8E20-8220-095E-4D38D833D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78D9D-2175-BC1C-1801-8EBF5504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63CE-16E9-50A6-6596-F2E0A5DE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8E260-A1B7-A50B-C0A6-797AD416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CAA12-2A38-D7B7-1859-5935EC51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2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E495F-C513-7FAD-9A03-C9B9B019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3F3C6-DEF9-791F-2FA6-2F2FCAEB4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CA7E1-F874-3AB4-C8A0-9E42CAD80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930E9-48E1-4A5A-8CA1-7D51961E4081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7660-D8AD-8EA6-D242-DE75ED929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B1C90-3226-67D9-2AB1-8BDE1AB18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33A2C-ECC8-4CC7-A450-FEF06FDBE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7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C3CE082-FBAC-0F84-FFD9-3CB8A477AF8D}"/>
              </a:ext>
            </a:extLst>
          </p:cNvPr>
          <p:cNvSpPr txBox="1"/>
          <p:nvPr/>
        </p:nvSpPr>
        <p:spPr>
          <a:xfrm>
            <a:off x="628153" y="254442"/>
            <a:ext cx="112908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Technology enabled up to 71 percent of the value derived in business transformations across different sectors.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90F33-53FB-BED2-DBBC-0278FBB509C0}"/>
              </a:ext>
            </a:extLst>
          </p:cNvPr>
          <p:cNvSpPr txBox="1"/>
          <p:nvPr/>
        </p:nvSpPr>
        <p:spPr>
          <a:xfrm>
            <a:off x="644129" y="1324831"/>
            <a:ext cx="871463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100" i="1" dirty="0"/>
              <a:t>Business transformation </a:t>
            </a:r>
            <a:r>
              <a:rPr lang="en-US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impact</a:t>
            </a:r>
            <a:r>
              <a:rPr lang="en-US" sz="1100" i="1" dirty="0"/>
              <a:t> dependent on technology, %</a:t>
            </a: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FEFDF863-851A-A3FA-6991-6037E6DD5A6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7349737"/>
                  </p:ext>
                </p:extLst>
              </p:nvPr>
            </p:nvGraphicFramePr>
            <p:xfrm>
              <a:off x="735291" y="1586441"/>
              <a:ext cx="10911383" cy="464467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4" name="Chart 13">
                <a:extLst>
                  <a:ext uri="{FF2B5EF4-FFF2-40B4-BE49-F238E27FC236}">
                    <a16:creationId xmlns:a16="http://schemas.microsoft.com/office/drawing/2014/main" id="{FEFDF863-851A-A3FA-6991-6037E6DD5A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291" y="1586441"/>
                <a:ext cx="10911383" cy="46446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291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27140B5-8968-BC35-58E9-63356E0DCC0C}"/>
              </a:ext>
            </a:extLst>
          </p:cNvPr>
          <p:cNvGrpSpPr/>
          <p:nvPr/>
        </p:nvGrpSpPr>
        <p:grpSpPr>
          <a:xfrm>
            <a:off x="747741" y="434299"/>
            <a:ext cx="9923401" cy="5481652"/>
            <a:chOff x="-2033515" y="-886119"/>
            <a:chExt cx="5735710" cy="4203239"/>
          </a:xfrm>
        </p:grpSpPr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C87D6E77-7F9C-1722-8529-61C52456F8D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424389"/>
                </p:ext>
              </p:extLst>
            </p:nvPr>
          </p:nvGraphicFramePr>
          <p:xfrm>
            <a:off x="-2033514" y="-262557"/>
            <a:ext cx="5489672" cy="35796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33FFAB0B-1C61-A4DF-A9D7-D36FAD1E4864}"/>
                </a:ext>
              </a:extLst>
            </p:cNvPr>
            <p:cNvSpPr txBox="1"/>
            <p:nvPr/>
          </p:nvSpPr>
          <p:spPr>
            <a:xfrm>
              <a:off x="-2033515" y="-793827"/>
              <a:ext cx="5735710" cy="438978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b="1" dirty="0">
                  <a:solidFill>
                    <a:srgbClr val="343434"/>
                  </a:solidFill>
                </a:rPr>
                <a:t>Following a sharp decline in 2020, M&amp;A</a:t>
              </a:r>
              <a:r>
                <a:rPr lang="en-US" sz="1800" b="1" baseline="0" dirty="0">
                  <a:solidFill>
                    <a:srgbClr val="343434"/>
                  </a:solidFill>
                </a:rPr>
                <a:t> activity in the machinery sector</a:t>
              </a:r>
            </a:p>
            <a:p>
              <a:r>
                <a:rPr lang="en-US" sz="1800" b="1" baseline="0" dirty="0">
                  <a:solidFill>
                    <a:srgbClr val="343434"/>
                  </a:solidFill>
                </a:rPr>
                <a:t>surpassed prepandemic levels in 2021 and 2022.</a:t>
              </a:r>
              <a:endParaRPr lang="en-US" sz="1800" b="1" dirty="0">
                <a:solidFill>
                  <a:srgbClr val="343434"/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4264D6D-F12E-417E-07F9-C6E51DDB34BA}"/>
                </a:ext>
              </a:extLst>
            </p:cNvPr>
            <p:cNvCxnSpPr/>
            <p:nvPr/>
          </p:nvCxnSpPr>
          <p:spPr>
            <a:xfrm>
              <a:off x="-2033515" y="-886119"/>
              <a:ext cx="5416826" cy="0"/>
            </a:xfrm>
            <a:prstGeom prst="line">
              <a:avLst/>
            </a:prstGeom>
            <a:ln w="19050">
              <a:solidFill>
                <a:srgbClr val="DEDE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0945C4-A4B2-FC70-69DD-31D46089B0CB}"/>
              </a:ext>
            </a:extLst>
          </p:cNvPr>
          <p:cNvSpPr txBox="1"/>
          <p:nvPr/>
        </p:nvSpPr>
        <p:spPr>
          <a:xfrm>
            <a:off x="820132" y="5915951"/>
            <a:ext cx="3607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D1D1D1"/>
                </a:solidFill>
              </a:rPr>
              <a:t>Source: Capital IO; McKinsey analysis </a:t>
            </a:r>
          </a:p>
        </p:txBody>
      </p:sp>
    </p:spTree>
    <p:extLst>
      <p:ext uri="{BB962C8B-B14F-4D97-AF65-F5344CB8AC3E}">
        <p14:creationId xmlns:p14="http://schemas.microsoft.com/office/powerpoint/2010/main" val="187747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D0E5E88-29C8-6F84-A724-4FD682742AD2}"/>
              </a:ext>
            </a:extLst>
          </p:cNvPr>
          <p:cNvGrpSpPr/>
          <p:nvPr/>
        </p:nvGrpSpPr>
        <p:grpSpPr>
          <a:xfrm>
            <a:off x="921037" y="958784"/>
            <a:ext cx="10673932" cy="5256145"/>
            <a:chOff x="2604881" y="647699"/>
            <a:chExt cx="7823099" cy="5256145"/>
          </a:xfrm>
        </p:grpSpPr>
        <p:graphicFrame>
          <p:nvGraphicFramePr>
            <p:cNvPr id="14" name="Chart 13">
              <a:extLst>
                <a:ext uri="{FF2B5EF4-FFF2-40B4-BE49-F238E27FC236}">
                  <a16:creationId xmlns:a16="http://schemas.microsoft.com/office/drawing/2014/main" id="{3B503B8D-1674-BB14-AB36-BD8350D8A9C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51255009"/>
                </p:ext>
              </p:extLst>
            </p:nvPr>
          </p:nvGraphicFramePr>
          <p:xfrm>
            <a:off x="4890881" y="647699"/>
            <a:ext cx="3975651" cy="47509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7FAA70D0-A354-343B-256A-C4033A90A6B6}"/>
                </a:ext>
              </a:extLst>
            </p:cNvPr>
            <p:cNvSpPr txBox="1"/>
            <p:nvPr/>
          </p:nvSpPr>
          <p:spPr>
            <a:xfrm>
              <a:off x="4021207" y="1812236"/>
              <a:ext cx="1060174" cy="45554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/>
                <a:t>White</a:t>
              </a:r>
              <a:r>
                <a:rPr lang="en-US" sz="1100" baseline="0"/>
                <a:t> Women</a:t>
              </a:r>
              <a:endParaRPr lang="en-US" sz="1100"/>
            </a:p>
          </p:txBody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8F920B09-675A-EB6D-BBE9-C58FFA2A46B2}"/>
                </a:ext>
              </a:extLst>
            </p:cNvPr>
            <p:cNvSpPr txBox="1"/>
            <p:nvPr/>
          </p:nvSpPr>
          <p:spPr>
            <a:xfrm>
              <a:off x="3872119" y="2599083"/>
              <a:ext cx="1217544" cy="24847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/>
                <a:t>Women of Color</a:t>
              </a:r>
            </a:p>
            <a:p>
              <a:endParaRPr lang="en-US" sz="1100"/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D8BC1439-98B1-47F8-8D00-33AA571E71EF}"/>
                </a:ext>
              </a:extLst>
            </p:cNvPr>
            <p:cNvSpPr txBox="1"/>
            <p:nvPr/>
          </p:nvSpPr>
          <p:spPr>
            <a:xfrm>
              <a:off x="3925128" y="3256723"/>
              <a:ext cx="1217544" cy="24847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/>
                <a:t>Men of Color</a:t>
              </a:r>
            </a:p>
            <a:p>
              <a:pPr algn="r"/>
              <a:endParaRPr lang="en-US" sz="1100"/>
            </a:p>
            <a:p>
              <a:endParaRPr lang="en-US" sz="1100"/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4F5BD8E7-256A-4601-B8FC-A60A9B97C43F}"/>
                </a:ext>
              </a:extLst>
            </p:cNvPr>
            <p:cNvSpPr txBox="1"/>
            <p:nvPr/>
          </p:nvSpPr>
          <p:spPr>
            <a:xfrm>
              <a:off x="3920159" y="4096579"/>
              <a:ext cx="1217544" cy="24847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100"/>
                <a:t>White Men</a:t>
              </a:r>
            </a:p>
            <a:p>
              <a:endParaRPr lang="en-US" sz="1100"/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6F23BF66-BBC7-DDD7-23EB-ECCC073079E7}"/>
                </a:ext>
              </a:extLst>
            </p:cNvPr>
            <p:cNvSpPr txBox="1"/>
            <p:nvPr/>
          </p:nvSpPr>
          <p:spPr>
            <a:xfrm>
              <a:off x="2604881" y="954159"/>
              <a:ext cx="7823099" cy="314739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 baseline="0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Representation by corporate role, by gender and race, 2021, </a:t>
              </a:r>
              <a:r>
                <a:rPr lang="en-US" sz="900" b="0" baseline="0" dirty="0">
                  <a:solidFill>
                    <a:srgbClr val="ACACAC"/>
                  </a:solidFill>
                  <a:effectLst/>
                  <a:latin typeface="+mn-lt"/>
                  <a:ea typeface="+mn-ea"/>
                  <a:cs typeface="+mn-cs"/>
                </a:rPr>
                <a:t>% of employees</a:t>
              </a:r>
              <a:endParaRPr lang="en-US" sz="900" dirty="0">
                <a:solidFill>
                  <a:srgbClr val="ACACAC"/>
                </a:solidFill>
                <a:effectLst/>
              </a:endParaRPr>
            </a:p>
            <a:p>
              <a:endParaRPr lang="en-US" sz="1100" dirty="0"/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2160A403-79BD-36BC-205D-70E9A2C284B0}"/>
                </a:ext>
              </a:extLst>
            </p:cNvPr>
            <p:cNvSpPr txBox="1"/>
            <p:nvPr/>
          </p:nvSpPr>
          <p:spPr>
            <a:xfrm>
              <a:off x="2752015" y="5398604"/>
              <a:ext cx="4075044" cy="505240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b="0" dirty="0">
                  <a:solidFill>
                    <a:srgbClr val="ACACAC"/>
                  </a:solidFill>
                </a:rPr>
                <a:t>Note:</a:t>
              </a:r>
              <a:r>
                <a:rPr lang="en-US" sz="800" b="0" baseline="0" dirty="0">
                  <a:solidFill>
                    <a:srgbClr val="ACACAC"/>
                  </a:solidFill>
                </a:rPr>
                <a:t> Figures may not sum to 100%, because of rounding.</a:t>
              </a:r>
            </a:p>
            <a:p>
              <a:r>
                <a:rPr lang="en-US" sz="800" b="0" baseline="0" dirty="0">
                  <a:solidFill>
                    <a:srgbClr val="ACACAC"/>
                  </a:solidFill>
                </a:rPr>
                <a:t>Source: Women in the Workplace 2021, Leanln.Org and McKinsey, 2021</a:t>
              </a:r>
              <a:endParaRPr lang="en-US" sz="800" b="0" dirty="0">
                <a:solidFill>
                  <a:srgbClr val="ACACAC"/>
                </a:solidFill>
              </a:endParaRPr>
            </a:p>
          </p:txBody>
        </p:sp>
      </p:grpSp>
      <p:sp>
        <p:nvSpPr>
          <p:cNvPr id="23" name="TextBox 16">
            <a:extLst>
              <a:ext uri="{FF2B5EF4-FFF2-40B4-BE49-F238E27FC236}">
                <a16:creationId xmlns:a16="http://schemas.microsoft.com/office/drawing/2014/main" id="{155C6CC5-FA5A-12C9-494A-47A404BECC41}"/>
              </a:ext>
            </a:extLst>
          </p:cNvPr>
          <p:cNvSpPr txBox="1"/>
          <p:nvPr/>
        </p:nvSpPr>
        <p:spPr>
          <a:xfrm>
            <a:off x="886400" y="370339"/>
            <a:ext cx="10783983" cy="80048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At</a:t>
            </a:r>
            <a:r>
              <a:rPr lang="en-US" sz="2800" b="1" baseline="0" dirty="0"/>
              <a:t> every step up the corporate ladder</a:t>
            </a:r>
            <a:r>
              <a:rPr lang="en-US" sz="2800" b="1" baseline="0"/>
              <a:t>, Women </a:t>
            </a:r>
            <a:r>
              <a:rPr lang="en-US" sz="2800" b="1" baseline="0" dirty="0"/>
              <a:t>of color lose ground to White women </a:t>
            </a:r>
            <a:r>
              <a:rPr lang="en-US" sz="2800" b="1" baseline="0"/>
              <a:t>and Men </a:t>
            </a:r>
            <a:r>
              <a:rPr lang="en-US" sz="2800" b="1" baseline="0" dirty="0"/>
              <a:t>of color.</a:t>
            </a:r>
          </a:p>
          <a:p>
            <a:endParaRPr lang="en-US" sz="1100" b="1" baseline="0" dirty="0"/>
          </a:p>
        </p:txBody>
      </p:sp>
    </p:spTree>
    <p:extLst>
      <p:ext uri="{BB962C8B-B14F-4D97-AF65-F5344CB8AC3E}">
        <p14:creationId xmlns:p14="http://schemas.microsoft.com/office/powerpoint/2010/main" val="341802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10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</TotalTime>
  <Words>140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Fahim Rahman</dc:creator>
  <cp:lastModifiedBy>Fahim Rahman</cp:lastModifiedBy>
  <cp:revision>2</cp:revision>
  <dcterms:created xsi:type="dcterms:W3CDTF">2025-07-28T16:04:13Z</dcterms:created>
  <dcterms:modified xsi:type="dcterms:W3CDTF">2025-07-28T21:02:34Z</dcterms:modified>
</cp:coreProperties>
</file>