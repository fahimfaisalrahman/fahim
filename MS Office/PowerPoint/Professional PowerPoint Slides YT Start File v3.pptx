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gssN97Q/2IXEfYGQmpBwW9Fmkf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26F0AD8-8A18-45FC-A25A-11076C889036}">
  <a:tblStyle styleId="{326F0AD8-8A18-45FC-A25A-11076C8890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reerprinciples.com/courses/powerpoint-for-business-finance?utm_source=YTDownloadFile&amp;utm_medium=create-professional-powerpoint-slides-jun-5-2022&amp;utm_campaign=YTDownloa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/>
        </p:nvSpPr>
        <p:spPr>
          <a:xfrm>
            <a:off x="2726151" y="4296988"/>
            <a:ext cx="6739699" cy="59078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ES" sz="2400" b="0" i="0" u="sng" strike="noStrike" cap="none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Get Our PowerPoint for Business &amp; Finance Course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60751" y="2432231"/>
            <a:ext cx="11870498" cy="1182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ES" sz="5400" dirty="0">
                <a:latin typeface="Calibri"/>
                <a:ea typeface="Calibri"/>
                <a:cs typeface="Calibri"/>
                <a:sym typeface="Calibri"/>
              </a:rPr>
              <a:t>Professional Business &amp; Finance Slides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321502" y="3470180"/>
            <a:ext cx="11548997" cy="48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ES">
                <a:latin typeface="Calibri"/>
                <a:ea typeface="Calibri"/>
                <a:cs typeface="Calibri"/>
                <a:sym typeface="Calibri"/>
              </a:rPr>
              <a:t>Get </a:t>
            </a:r>
            <a:r>
              <a:rPr lang="en-ES" b="1">
                <a:latin typeface="Calibri"/>
                <a:ea typeface="Calibri"/>
                <a:cs typeface="Calibri"/>
                <a:sym typeface="Calibri"/>
              </a:rPr>
              <a:t>10% off </a:t>
            </a:r>
            <a:r>
              <a:rPr lang="en-ES">
                <a:latin typeface="Calibri"/>
                <a:ea typeface="Calibri"/>
                <a:cs typeface="Calibri"/>
                <a:sym typeface="Calibri"/>
              </a:rPr>
              <a:t>our PowerPoint for Business &amp; Finance Course using coupon code </a:t>
            </a:r>
            <a:r>
              <a:rPr lang="en-ES" b="1">
                <a:latin typeface="Calibri"/>
                <a:ea typeface="Calibri"/>
                <a:cs typeface="Calibri"/>
                <a:sym typeface="Calibri"/>
              </a:rPr>
              <a:t>EMAIL10</a:t>
            </a:r>
            <a:r>
              <a:rPr lang="en-ES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86" name="Google Shape;86;p1" descr="Text&#10;&#10;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42289" y="789867"/>
            <a:ext cx="5307423" cy="15229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274704" y="5570101"/>
            <a:ext cx="11549100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1800"/>
              <a:buFont typeface="Arial"/>
              <a:buNone/>
            </a:pPr>
            <a:r>
              <a:rPr lang="en-ES" sz="1800" b="0" i="0" u="none" strike="noStrike" cap="none">
                <a:solidFill>
                  <a:srgbClr val="0432FF"/>
                </a:solidFill>
                <a:latin typeface="Calibri"/>
                <a:ea typeface="Calibri"/>
                <a:cs typeface="Calibri"/>
                <a:sym typeface="Calibri"/>
              </a:rPr>
              <a:t>Made by Kenji Explains / Career Principles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274704" y="5950876"/>
            <a:ext cx="11548997" cy="66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All content is copyright material of Kenji Explains / Career Principles. This file may not be reproduced or distributed by any means, including printing, screen capturing, or any other method without the prior permission of the publisher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ES">
                <a:latin typeface="Calibri"/>
                <a:ea typeface="Calibri"/>
                <a:cs typeface="Calibri"/>
                <a:sym typeface="Calibri"/>
              </a:rPr>
              <a:t>Supporting Text &amp; Graphics</a:t>
            </a:r>
            <a:endParaRPr/>
          </a:p>
        </p:txBody>
      </p:sp>
      <p:pic>
        <p:nvPicPr>
          <p:cNvPr id="100" name="Google Shape;100;p3" descr="Logo, company nam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514370"/>
            <a:ext cx="676593" cy="39616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1" name="Google Shape;101;p3" descr="A picture containing 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4318" y="3077589"/>
            <a:ext cx="676593" cy="39616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2" name="Google Shape;102;p3" descr="Shape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" y="3077589"/>
            <a:ext cx="676593" cy="39616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3" name="Google Shape;103;p3" descr="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8200" y="1946033"/>
            <a:ext cx="676593" cy="39616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4" name="Google Shape;104;p3" descr="Graphical user interfac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24318" y="2514370"/>
            <a:ext cx="676593" cy="39616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5" name="Google Shape;105;p3" descr="A picture containing text, businesscard, vector graphics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24319" y="1946033"/>
            <a:ext cx="676593" cy="39616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6" name="Google Shape;106;p3" descr="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205439" y="1884020"/>
            <a:ext cx="698631" cy="69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3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205439" y="2671094"/>
            <a:ext cx="686873" cy="6868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Google Shape;108;p3"/>
          <p:cNvGraphicFramePr/>
          <p:nvPr/>
        </p:nvGraphicFramePr>
        <p:xfrm>
          <a:off x="4708599" y="19112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{326F0AD8-8A18-45FC-A25A-11076C889036}</a:tableStyleId>
              </a:tblPr>
              <a:tblGrid>
                <a:gridCol w="132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United States</a:t>
                      </a:r>
                      <a:endParaRPr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13,010 </a:t>
                      </a:r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Mexico</a:t>
                      </a:r>
                      <a:endParaRPr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8,556 </a:t>
                      </a:r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United Kingdom</a:t>
                      </a:r>
                      <a:endParaRPr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7,589 </a:t>
                      </a:r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Canada</a:t>
                      </a:r>
                      <a:endParaRPr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7,358 </a:t>
                      </a:r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Japan</a:t>
                      </a:r>
                      <a:endParaRPr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5,428 </a:t>
                      </a:r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Brazil</a:t>
                      </a:r>
                      <a:endParaRPr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2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5,401 </a:t>
                      </a:r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Google Shape;109;p3"/>
          <p:cNvSpPr txBox="1"/>
          <p:nvPr/>
        </p:nvSpPr>
        <p:spPr>
          <a:xfrm>
            <a:off x="7961128" y="1884020"/>
            <a:ext cx="3392672" cy="2108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United States sparkling soft drinks market has seen 12% growth YoY from 2012-2021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Beverage regulations in the European Union slashed EU growth expectations to less than 1.5% in 2022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7984036" y="4526022"/>
            <a:ext cx="28814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“The soft drinks market has seen the massive regulatory hurdles in Europe”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7961128" y="5058888"/>
            <a:ext cx="241790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Sam Smith, Bloomberg Europe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7994393" y="5398950"/>
            <a:ext cx="2881493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“Coca-Cola has solidified it’s position as market leader in the United States despite intense competition”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7994393" y="6110098"/>
            <a:ext cx="336992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Martha Warren, CNBC Americas</a:t>
            </a:r>
            <a:endParaRPr/>
          </a:p>
        </p:txBody>
      </p:sp>
      <p:pic>
        <p:nvPicPr>
          <p:cNvPr id="114" name="Google Shape;114;p3" descr="Logo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6215" y="3986043"/>
            <a:ext cx="2335481" cy="76416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716352" y="5279530"/>
            <a:ext cx="63519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Sources: Bloomberg News; CNBC Americas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ES">
                <a:latin typeface="Calibri"/>
                <a:ea typeface="Calibri"/>
                <a:cs typeface="Calibri"/>
                <a:sym typeface="Calibri"/>
              </a:rPr>
              <a:t>Supporting Text &amp; Graphics</a:t>
            </a:r>
            <a:endParaRPr/>
          </a:p>
        </p:txBody>
      </p:sp>
      <p:graphicFrame>
        <p:nvGraphicFramePr>
          <p:cNvPr id="127" name="Google Shape;127;p5"/>
          <p:cNvGraphicFramePr/>
          <p:nvPr/>
        </p:nvGraphicFramePr>
        <p:xfrm>
          <a:off x="838200" y="1595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{326F0AD8-8A18-45FC-A25A-11076C889036}</a:tableStyleId>
              </a:tblPr>
              <a:tblGrid>
                <a:gridCol w="73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b="1" u="none" strike="noStrike" cap="none">
                          <a:solidFill>
                            <a:schemeClr val="lt1"/>
                          </a:solidFill>
                        </a:rPr>
                        <a:t>State</a:t>
                      </a:r>
                      <a:endParaRPr sz="80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>
                    <a:solidFill>
                      <a:srgbClr val="203E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b="1" u="none" strike="noStrike" cap="none">
                          <a:solidFill>
                            <a:schemeClr val="lt1"/>
                          </a:solidFill>
                        </a:rPr>
                        <a:t>Revenue in millions</a:t>
                      </a:r>
                      <a:endParaRPr sz="80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>
                    <a:solidFill>
                      <a:srgbClr val="203E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New York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465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Texas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585.9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California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644.8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Illinois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489.8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Pennsylvania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511.5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Nevada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446.4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Colorado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319.3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Washington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269.7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Florida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585.9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Minnesota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176.7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Montana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179.8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Tennessee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210.8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Nebraska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167.4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Alabama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269.7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Maine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303.8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Alaska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207.7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Hawaii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210.8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Wyoming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179.8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Virginia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207.7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Michigan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142.6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Missouri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151.9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Utah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151.9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Oregon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207.7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Louisiana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244.9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Idaho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114.7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Arizona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148.8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New Mexico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213.9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Georgia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275.9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9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South Carolina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269.7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9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North Carolina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257.3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Ohio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303.8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Kentucky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207.7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Mississippi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241.8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Arkansas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210.8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Oklahoma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179.8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Kansas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148.8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South Dakota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148.8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North Dakota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148.8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Iowa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145.7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Wisconsin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151.9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Indiana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170.5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41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West Virginia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207.7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42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Maryland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334.8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43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Delaware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337.9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44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New Jersey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341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45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Connecticut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232.5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46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Rhode Island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272.8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47"/>
                  </a:ext>
                </a:extLst>
              </a:tr>
              <a:tr h="9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Massachusetts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300.7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48"/>
                  </a:ext>
                </a:extLst>
              </a:tr>
              <a:tr h="81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Vermont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254.2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49"/>
                  </a:ext>
                </a:extLst>
              </a:tr>
              <a:tr h="9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New Hampshire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800" u="none" strike="noStrike" cap="none"/>
                        <a:t>306.9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10050"/>
                  </a:ext>
                </a:extLst>
              </a:tr>
            </a:tbl>
          </a:graphicData>
        </a:graphic>
      </p:graphicFrame>
      <p:graphicFrame>
        <p:nvGraphicFramePr>
          <p:cNvPr id="128" name="Google Shape;128;p5"/>
          <p:cNvGraphicFramePr/>
          <p:nvPr/>
        </p:nvGraphicFramePr>
        <p:xfrm>
          <a:off x="3123390" y="1595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{326F0AD8-8A18-45FC-A25A-11076C889036}</a:tableStyleId>
              </a:tblPr>
              <a:tblGrid>
                <a:gridCol w="68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5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5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State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Population (millions)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Revenue (millions)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Profit Margin (%)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CA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39.4M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$2,500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25.6%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TX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ES" sz="1100" u="none" strike="noStrike" cap="none"/>
                        <a:t>28.6M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ES" sz="1100" u="none" strike="noStrike" cap="none"/>
                        <a:t>$1,850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26.8%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FL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ES" sz="1100" u="none" strike="noStrike" cap="none"/>
                        <a:t>21.2M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ES" sz="1100" u="none" strike="noStrike" cap="none"/>
                        <a:t>$1,785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24.4%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PA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ES" sz="1100" u="none" strike="noStrike" cap="none"/>
                        <a:t>12.79M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ES" sz="1100" u="none" strike="noStrike" cap="none"/>
                        <a:t>$1,105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26.2%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IL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ES" sz="1100" u="none" strike="noStrike" cap="none"/>
                        <a:t>12.72M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ES" sz="1100" u="none" strike="noStrike" cap="none"/>
                        <a:t>$1,103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24.2%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NV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ES" sz="1100" u="none" strike="noStrike" cap="none"/>
                        <a:t>3.03M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ES" sz="1100" u="none" strike="noStrike" cap="none"/>
                        <a:t>$848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32.5%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NJ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ES" sz="1100" u="none" strike="noStrike" cap="none"/>
                        <a:t>8.89M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ES" sz="1100" u="none" strike="noStrike" cap="none"/>
                        <a:t>$841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29.4%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NY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ES" sz="1100" u="none" strike="noStrike" cap="none"/>
                        <a:t>8.38M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ES" sz="1100" u="none" strike="noStrike" cap="none"/>
                        <a:t>$796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100" u="none" strike="noStrike" cap="none"/>
                        <a:t>28.0%</a:t>
                      </a:r>
                      <a:endParaRPr sz="1100" u="none" strike="noStrike" cap="none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9" name="Google Shape;129;p5"/>
          <p:cNvSpPr txBox="1"/>
          <p:nvPr/>
        </p:nvSpPr>
        <p:spPr>
          <a:xfrm>
            <a:off x="3123390" y="5307073"/>
            <a:ext cx="63519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Statista population by state report 2021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ES">
                <a:latin typeface="Calibri"/>
                <a:ea typeface="Calibri"/>
                <a:cs typeface="Calibri"/>
                <a:sym typeface="Calibri"/>
              </a:rPr>
              <a:t>Supporting Text &amp; Graphics</a:t>
            </a:r>
            <a:endParaRPr/>
          </a:p>
        </p:txBody>
      </p:sp>
      <p:pic>
        <p:nvPicPr>
          <p:cNvPr id="141" name="Google Shape;141;p7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7691" y="2833711"/>
            <a:ext cx="1336299" cy="751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7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60269">
            <a:off x="1337818" y="3656510"/>
            <a:ext cx="1236043" cy="77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7" descr="Logo, company nam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76074" y="1920904"/>
            <a:ext cx="759531" cy="75615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 txBox="1"/>
          <p:nvPr/>
        </p:nvSpPr>
        <p:spPr>
          <a:xfrm>
            <a:off x="2913888" y="1975815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Coca-Cola brands in the US show revenue growth of over 15% from 2020-2021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2913888" y="2784873"/>
            <a:ext cx="8439912" cy="76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Boosted by the inflationary trends, the top three brands by revenue are Coca-Cola, Fanta, and Sprite, with the latter recording an all-time high $3.9B in revenue in 2021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6" name="Google Shape;146;p7"/>
          <p:cNvGraphicFramePr/>
          <p:nvPr/>
        </p:nvGraphicFramePr>
        <p:xfrm>
          <a:off x="2913888" y="40452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{326F0AD8-8A18-45FC-A25A-11076C889036}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800" u="none" strike="noStrike" cap="none"/>
                        <a:t>Year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800"/>
                        <a:t>Fanta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800"/>
                        <a:t>Coca-Cola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800"/>
                        <a:t>Sprite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800"/>
                        <a:t>2020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800"/>
                        <a:t>$3.0B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800"/>
                        <a:t>$6.0B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800"/>
                        <a:t>$3.0B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800"/>
                        <a:t>2021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800"/>
                        <a:t>$4.5B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800"/>
                        <a:t>$7.2B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ES" sz="1800"/>
                        <a:t>$3.9B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7" name="Google Shape;147;p7"/>
          <p:cNvSpPr txBox="1"/>
          <p:nvPr/>
        </p:nvSpPr>
        <p:spPr>
          <a:xfrm>
            <a:off x="1570815" y="5453139"/>
            <a:ext cx="63519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Coca-Cola Website - https://www.coca-colacompany.com/brands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454</Words>
  <Application>Microsoft Office PowerPoint</Application>
  <PresentationFormat>Widescreen</PresentationFormat>
  <Paragraphs>181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Play</vt:lpstr>
      <vt:lpstr>Arial</vt:lpstr>
      <vt:lpstr>Office Theme</vt:lpstr>
      <vt:lpstr>Professional Business &amp; Finance Slides</vt:lpstr>
      <vt:lpstr>PowerPoint Presentation</vt:lpstr>
      <vt:lpstr>Supporting Text &amp; Graphics</vt:lpstr>
      <vt:lpstr>PowerPoint Presentation</vt:lpstr>
      <vt:lpstr>Supporting Text &amp; Graphics</vt:lpstr>
      <vt:lpstr>PowerPoint Presentation</vt:lpstr>
      <vt:lpstr>Supporting Text &amp; 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Business &amp; Finance Slides</dc:title>
  <dc:creator>kenji farre</dc:creator>
  <cp:lastModifiedBy>ADMIN</cp:lastModifiedBy>
  <cp:revision>2</cp:revision>
  <dcterms:created xsi:type="dcterms:W3CDTF">2022-05-30T07:40:26Z</dcterms:created>
  <dcterms:modified xsi:type="dcterms:W3CDTF">2022-12-12T10:09:12Z</dcterms:modified>
</cp:coreProperties>
</file>